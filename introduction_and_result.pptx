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7D129-92A6-80DA-0386-4A1515023820}" v="1530" dt="2025-12-07T14:56:59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ngyun-Kim/RL_SPY_simulati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Deep RL Trading System with XAI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286" y="3094793"/>
            <a:ext cx="569675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rPr lang="ko-KR" altLang="en-US" sz="1600" dirty="0">
                <a:ea typeface="맑은 고딕"/>
                <a:cs typeface="Calibri"/>
              </a:rPr>
              <a:t>부제: SAC, PPO, TD3 알고리즘 성능 비교 및 의사결정 요인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491F6-EFEA-1177-9D75-3FD7164CE0AA}"/>
              </a:ext>
            </a:extLst>
          </p:cNvPr>
          <p:cNvSpPr txBox="1"/>
          <p:nvPr/>
        </p:nvSpPr>
        <p:spPr>
          <a:xfrm>
            <a:off x="5082277" y="3803130"/>
            <a:ext cx="400750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rPr lang="ko-KR" altLang="en-US" sz="1600" dirty="0">
                <a:latin typeface="Calibri"/>
                <a:ea typeface="맑은 고딕"/>
                <a:cs typeface="Calibri"/>
              </a:rPr>
              <a:t>56조 인공지능학과</a:t>
            </a:r>
            <a:r>
              <a:rPr lang="ko-KR" altLang="en-US" sz="1600" dirty="0">
                <a:ea typeface="맑은 고딕"/>
                <a:cs typeface="Calibri"/>
              </a:rPr>
              <a:t> 120250377 </a:t>
            </a:r>
            <a:r>
              <a:rPr lang="ko-KR" altLang="en-US" sz="1600" dirty="0" err="1">
                <a:ea typeface="맑은 고딕"/>
                <a:cs typeface="Calibri"/>
              </a:rPr>
              <a:t>김성연</a:t>
            </a:r>
            <a:endParaRPr lang="ko-KR" altLang="en-US" sz="1600">
              <a:ea typeface="맑은 고딕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A656E-B2AC-0185-30B5-E5D66B9286A3}"/>
              </a:ext>
            </a:extLst>
          </p:cNvPr>
          <p:cNvSpPr txBox="1"/>
          <p:nvPr/>
        </p:nvSpPr>
        <p:spPr>
          <a:xfrm>
            <a:off x="589852" y="5688598"/>
            <a:ext cx="77724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000"/>
              </a:spcBef>
              <a:defRPr sz="1800" b="1"/>
            </a:pPr>
            <a:r>
              <a:rPr lang="en-US" altLang="ko-KR" sz="1600" dirty="0">
                <a:ea typeface="Calibri"/>
                <a:cs typeface="Calibri"/>
                <a:hlinkClick r:id="rId2"/>
              </a:rPr>
              <a:t>https://github.com/sungyun-Kim/RL_SPY_simulation</a:t>
            </a:r>
            <a:endParaRPr lang="ko-KR" altLang="en-US"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309478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lang="ko-KR" dirty="0" err="1">
                <a:ea typeface="+mn-lt"/>
                <a:cs typeface="+mn-lt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F4C6E-DD8F-88B1-6801-EE37E90D61B8}"/>
              </a:ext>
            </a:extLst>
          </p:cNvPr>
          <p:cNvSpPr txBox="1"/>
          <p:nvPr/>
        </p:nvSpPr>
        <p:spPr>
          <a:xfrm>
            <a:off x="457201" y="1774065"/>
            <a:ext cx="8493616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 err="1">
                <a:latin typeface="맑은 고딕"/>
                <a:ea typeface="맑은 고딕"/>
              </a:rPr>
              <a:t>배경</a:t>
            </a:r>
            <a:r>
              <a:rPr lang="en-US" b="1" dirty="0">
                <a:latin typeface="맑은 고딕"/>
                <a:ea typeface="맑은 고딕"/>
              </a:rPr>
              <a:t> (Problem):</a:t>
            </a:r>
          </a:p>
          <a:p>
            <a:endParaRPr lang="en-US" b="1" dirty="0">
              <a:latin typeface="맑은 고딕"/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 err="1">
                <a:latin typeface="맑은 고딕"/>
                <a:ea typeface="맑은 고딕"/>
              </a:rPr>
              <a:t>기존의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b="1" dirty="0" err="1">
                <a:latin typeface="맑은 고딕"/>
                <a:ea typeface="맑은 고딕"/>
              </a:rPr>
              <a:t>규칙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dirty="0" err="1">
                <a:latin typeface="맑은 고딕"/>
                <a:ea typeface="맑은 고딕"/>
              </a:rPr>
              <a:t>기반</a:t>
            </a:r>
            <a:r>
              <a:rPr lang="en-US" sz="1200" b="1" dirty="0">
                <a:latin typeface="맑은 고딕"/>
                <a:ea typeface="맑은 고딕"/>
              </a:rPr>
              <a:t>(Rule-based)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투자는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시장의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비선형적인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변화와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노이즈에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유연하게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대처하지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못함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 err="1">
                <a:latin typeface="맑은 고딕"/>
                <a:ea typeface="맑은 고딕"/>
              </a:rPr>
              <a:t>단순히</a:t>
            </a:r>
            <a:r>
              <a:rPr lang="en-US" sz="1200" dirty="0">
                <a:latin typeface="맑은 고딕"/>
                <a:ea typeface="맑은 고딕"/>
              </a:rPr>
              <a:t> "</a:t>
            </a:r>
            <a:r>
              <a:rPr lang="en-US" sz="1200" dirty="0" err="1">
                <a:latin typeface="맑은 고딕"/>
                <a:ea typeface="맑은 고딕"/>
              </a:rPr>
              <a:t>살까</a:t>
            </a:r>
            <a:r>
              <a:rPr lang="en-US" sz="1200" dirty="0">
                <a:latin typeface="맑은 고딕"/>
                <a:ea typeface="맑은 고딕"/>
              </a:rPr>
              <a:t>/</a:t>
            </a:r>
            <a:r>
              <a:rPr lang="en-US" sz="1200" dirty="0" err="1">
                <a:latin typeface="맑은 고딕"/>
                <a:ea typeface="맑은 고딕"/>
              </a:rPr>
              <a:t>팔까</a:t>
            </a:r>
            <a:r>
              <a:rPr lang="en-US" sz="1200" dirty="0">
                <a:latin typeface="맑은 고딕"/>
                <a:ea typeface="맑은 고딕"/>
              </a:rPr>
              <a:t>(Discrete)"가 </a:t>
            </a:r>
            <a:r>
              <a:rPr lang="en-US" sz="1200" dirty="0" err="1">
                <a:latin typeface="맑은 고딕"/>
                <a:ea typeface="맑은 고딕"/>
              </a:rPr>
              <a:t>아니라</a:t>
            </a:r>
            <a:r>
              <a:rPr lang="en-US" sz="1200" dirty="0">
                <a:latin typeface="맑은 고딕"/>
                <a:ea typeface="맑은 고딕"/>
              </a:rPr>
              <a:t>, **"내 </a:t>
            </a:r>
            <a:r>
              <a:rPr lang="en-US" sz="1200" dirty="0" err="1">
                <a:latin typeface="맑은 고딕"/>
                <a:ea typeface="맑은 고딕"/>
              </a:rPr>
              <a:t>자산의</a:t>
            </a:r>
            <a:r>
              <a:rPr lang="en-US" sz="1200" dirty="0">
                <a:latin typeface="맑은 고딕"/>
                <a:ea typeface="맑은 고딕"/>
              </a:rPr>
              <a:t> 몇 %를 </a:t>
            </a:r>
            <a:r>
              <a:rPr lang="en-US" sz="1200" dirty="0" err="1">
                <a:latin typeface="맑은 고딕"/>
                <a:ea typeface="맑은 고딕"/>
              </a:rPr>
              <a:t>주식에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담을까</a:t>
            </a:r>
            <a:r>
              <a:rPr lang="en-US" sz="1200" dirty="0">
                <a:latin typeface="맑은 고딕"/>
                <a:ea typeface="맑은 고딕"/>
              </a:rPr>
              <a:t>(Continuous)?"**를 </a:t>
            </a:r>
            <a:r>
              <a:rPr lang="en-US" sz="1200" dirty="0" err="1">
                <a:latin typeface="맑은 고딕"/>
                <a:ea typeface="맑은 고딕"/>
              </a:rPr>
              <a:t>고민하는</a:t>
            </a:r>
            <a:r>
              <a:rPr lang="en-US" sz="1200" dirty="0">
                <a:latin typeface="맑은 고딕"/>
                <a:ea typeface="맑은 고딕"/>
              </a:rPr>
              <a:t> AI </a:t>
            </a:r>
            <a:r>
              <a:rPr lang="en-US" sz="1200" dirty="0" err="1">
                <a:latin typeface="맑은 고딕"/>
                <a:ea typeface="맑은 고딕"/>
              </a:rPr>
              <a:t>펀드매니저가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필요함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200" dirty="0">
              <a:latin typeface="맑은 고딕"/>
              <a:ea typeface="맑은 고딕"/>
              <a:cs typeface="Calibri"/>
            </a:endParaRPr>
          </a:p>
          <a:p>
            <a:pPr marL="457200" lvl="2"/>
            <a:endParaRPr lang="en-US" sz="1200" dirty="0">
              <a:latin typeface="맑은 고딕"/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latin typeface="맑은 고딕"/>
                <a:ea typeface="맑은 고딕"/>
              </a:rPr>
              <a:t>목표</a:t>
            </a:r>
            <a:r>
              <a:rPr lang="en-US" b="1" dirty="0">
                <a:latin typeface="맑은 고딕"/>
                <a:ea typeface="맑은 고딕"/>
              </a:rPr>
              <a:t> (Goal):</a:t>
            </a:r>
            <a:endParaRPr lang="en-US" b="1" dirty="0">
              <a:latin typeface="맑은 고딕"/>
              <a:ea typeface="맑은 고딕"/>
              <a:cs typeface="Calibri"/>
            </a:endParaRPr>
          </a:p>
          <a:p>
            <a:endParaRPr lang="en-US" b="1" dirty="0">
              <a:latin typeface="맑은 고딕"/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b="1" err="1">
                <a:latin typeface="맑은 고딕"/>
                <a:ea typeface="맑은 고딕"/>
              </a:rPr>
              <a:t>동적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자산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배분</a:t>
            </a:r>
            <a:r>
              <a:rPr lang="en-US" sz="1200" b="1" dirty="0">
                <a:latin typeface="맑은 고딕"/>
                <a:ea typeface="맑은 고딕"/>
              </a:rPr>
              <a:t>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시장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상황</a:t>
            </a:r>
            <a:r>
              <a:rPr lang="en-US" sz="1200" dirty="0">
                <a:latin typeface="맑은 고딕"/>
                <a:ea typeface="맑은 고딕"/>
              </a:rPr>
              <a:t>(State)을 </a:t>
            </a:r>
            <a:r>
              <a:rPr lang="en-US" sz="1200" err="1">
                <a:latin typeface="맑은 고딕"/>
                <a:ea typeface="맑은 고딕"/>
              </a:rPr>
              <a:t>읽고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주식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비중</a:t>
            </a:r>
            <a:r>
              <a:rPr lang="en-US" sz="1200" dirty="0">
                <a:latin typeface="맑은 고딕"/>
                <a:ea typeface="맑은 고딕"/>
              </a:rPr>
              <a:t>(Action, 0~100%)을 </a:t>
            </a:r>
            <a:r>
              <a:rPr lang="en-US" sz="1200" err="1">
                <a:latin typeface="맑은 고딕"/>
                <a:ea typeface="맑은 고딕"/>
              </a:rPr>
              <a:t>실시간으로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조절하여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수익률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극대화</a:t>
            </a:r>
            <a:r>
              <a:rPr lang="en-US" sz="1200" dirty="0">
                <a:latin typeface="맑은 고딕"/>
                <a:ea typeface="맑은 고딕"/>
              </a:rPr>
              <a:t> 및 </a:t>
            </a:r>
            <a:r>
              <a:rPr lang="en-US" sz="1200" err="1">
                <a:latin typeface="맑은 고딕"/>
                <a:ea typeface="맑은 고딕"/>
              </a:rPr>
              <a:t>하락장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방어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b="1" err="1">
                <a:latin typeface="맑은 고딕"/>
                <a:ea typeface="맑은 고딕"/>
              </a:rPr>
              <a:t>알고리즘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검증</a:t>
            </a:r>
            <a:r>
              <a:rPr lang="en-US" sz="1200" b="1" dirty="0">
                <a:latin typeface="맑은 고딕"/>
                <a:ea typeface="맑은 고딕"/>
              </a:rPr>
              <a:t>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최신</a:t>
            </a:r>
            <a:r>
              <a:rPr lang="en-US" sz="1200" dirty="0">
                <a:latin typeface="맑은 고딕"/>
                <a:ea typeface="맑은 고딕"/>
              </a:rPr>
              <a:t> RL </a:t>
            </a:r>
            <a:r>
              <a:rPr lang="en-US" sz="1200" err="1">
                <a:latin typeface="맑은 고딕"/>
                <a:ea typeface="맑은 고딕"/>
              </a:rPr>
              <a:t>알고리즘인</a:t>
            </a:r>
            <a:r>
              <a:rPr lang="en-US" sz="1200" dirty="0">
                <a:latin typeface="맑은 고딕"/>
                <a:ea typeface="맑은 고딕"/>
              </a:rPr>
              <a:t> On-policy(PPO)와 Off-policy(SAC, TD3) 중 </a:t>
            </a:r>
            <a:r>
              <a:rPr lang="en-US" sz="1200" err="1">
                <a:latin typeface="맑은 고딕"/>
                <a:ea typeface="맑은 고딕"/>
              </a:rPr>
              <a:t>금융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시계열에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적합한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모델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탐색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b="1" err="1">
                <a:latin typeface="맑은 고딕"/>
                <a:ea typeface="맑은 고딕"/>
              </a:rPr>
              <a:t>설명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가능성</a:t>
            </a:r>
            <a:r>
              <a:rPr lang="en-US" sz="1200" b="1" dirty="0">
                <a:latin typeface="맑은 고딕"/>
                <a:ea typeface="맑은 고딕"/>
              </a:rPr>
              <a:t>(XAI):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블랙박스인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AI가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도대체</a:t>
            </a:r>
            <a:r>
              <a:rPr lang="en-US" sz="1200" dirty="0">
                <a:latin typeface="맑은 고딕"/>
                <a:ea typeface="맑은 고딕"/>
              </a:rPr>
              <a:t> '</a:t>
            </a:r>
            <a:r>
              <a:rPr lang="en-US" sz="1200" err="1">
                <a:latin typeface="맑은 고딕"/>
                <a:ea typeface="맑은 고딕"/>
              </a:rPr>
              <a:t>무엇을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보고</a:t>
            </a:r>
            <a:r>
              <a:rPr lang="en-US" sz="1200" dirty="0">
                <a:latin typeface="맑은 고딕"/>
                <a:ea typeface="맑은 고딕"/>
              </a:rPr>
              <a:t>' </a:t>
            </a:r>
            <a:r>
              <a:rPr lang="en-US" sz="1200" err="1">
                <a:latin typeface="맑은 고딕"/>
                <a:ea typeface="맑은 고딕"/>
              </a:rPr>
              <a:t>투자를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결정했는지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b="1" dirty="0">
                <a:latin typeface="맑은 고딕"/>
                <a:ea typeface="맑은 고딕"/>
              </a:rPr>
              <a:t>SHAP </a:t>
            </a:r>
            <a:r>
              <a:rPr lang="en-US" sz="1200" b="1" err="1">
                <a:latin typeface="맑은 고딕"/>
                <a:ea typeface="맑은 고딕"/>
              </a:rPr>
              <a:t>분석</a:t>
            </a:r>
            <a:r>
              <a:rPr lang="en-US" sz="1200" err="1">
                <a:latin typeface="맑은 고딕"/>
                <a:ea typeface="맑은 고딕"/>
              </a:rPr>
              <a:t>으로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규명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200" dirty="0">
              <a:latin typeface="맑은 고딕"/>
              <a:ea typeface="맑은 고딕"/>
              <a:cs typeface="Calibri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624" y="1116598"/>
            <a:ext cx="8647495" cy="156966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/>
            </a:pPr>
            <a:r>
              <a:rPr lang="ko-KR" altLang="en-US" dirty="0">
                <a:latin typeface="맑은 고딕"/>
                <a:ea typeface="맑은 고딕"/>
                <a:cs typeface="+mn-lt"/>
              </a:rPr>
              <a:t>데이터</a:t>
            </a:r>
            <a:r>
              <a:rPr lang="en-US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dirty="0">
                <a:latin typeface="맑은 고딕"/>
                <a:ea typeface="맑은 고딕"/>
                <a:cs typeface="+mn-lt"/>
              </a:rPr>
              <a:t>소스</a:t>
            </a:r>
            <a:r>
              <a:rPr lang="en-US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dirty="0">
                <a:latin typeface="맑은 고딕"/>
                <a:ea typeface="맑은 고딕"/>
                <a:cs typeface="+mn-lt"/>
              </a:rPr>
              <a:t>및</a:t>
            </a:r>
            <a:r>
              <a:rPr lang="en-US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dirty="0">
                <a:latin typeface="맑은 고딕"/>
                <a:ea typeface="맑은 고딕"/>
                <a:cs typeface="+mn-lt"/>
              </a:rPr>
              <a:t>기간</a:t>
            </a:r>
            <a:r>
              <a:rPr lang="en-US" dirty="0">
                <a:latin typeface="맑은 고딕"/>
                <a:ea typeface="맑은 고딕"/>
                <a:cs typeface="+mn-lt"/>
              </a:rPr>
              <a:t> (Data Source &amp; Period)</a:t>
            </a:r>
            <a:endParaRPr lang="ko-KR" altLang="en-US">
              <a:latin typeface="맑은 고딕"/>
              <a:ea typeface="맑은 고딕"/>
              <a:cs typeface="+mn-lt"/>
            </a:endParaRPr>
          </a:p>
          <a:p>
            <a:pPr marL="285750" indent="-285750">
              <a:buFont typeface="Arial"/>
              <a:buChar char="•"/>
              <a:defRPr sz="1800" b="1"/>
            </a:pPr>
            <a:r>
              <a:rPr lang="ko-KR" altLang="en-US" sz="1200" dirty="0">
                <a:latin typeface="맑은 고딕"/>
                <a:ea typeface="맑은 고딕"/>
                <a:cs typeface="+mn-lt"/>
              </a:rPr>
              <a:t>대상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: S&amp;P 500 ETF (SPY) </a:t>
            </a:r>
            <a:r>
              <a:rPr lang="ko-KR" altLang="en-US" sz="1200" err="1">
                <a:latin typeface="맑은 고딕"/>
                <a:ea typeface="맑은 고딕"/>
                <a:cs typeface="+mn-lt"/>
              </a:rPr>
              <a:t>일봉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데이터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(Yahoo Finance API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활용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).</a:t>
            </a:r>
            <a:endParaRPr lang="en-US" sz="1200">
              <a:latin typeface="맑은 고딕"/>
              <a:ea typeface="맑은 고딕"/>
              <a:cs typeface="+mn-lt"/>
            </a:endParaRPr>
          </a:p>
          <a:p>
            <a:pPr marL="285750" indent="-285750">
              <a:buFont typeface="Arial"/>
              <a:buChar char="•"/>
              <a:defRPr sz="1800" b="1"/>
            </a:pPr>
            <a:r>
              <a:rPr lang="ko-KR" altLang="en-US" sz="1200" dirty="0">
                <a:latin typeface="맑은 고딕"/>
                <a:ea typeface="맑은 고딕"/>
                <a:cs typeface="+mn-lt"/>
              </a:rPr>
              <a:t>기간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: 2015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4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월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28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일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~ 2024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12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월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(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약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10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).</a:t>
            </a:r>
            <a:endParaRPr lang="en-US">
              <a:latin typeface="맑은 고딕"/>
              <a:ea typeface="맑은 고딕"/>
            </a:endParaRPr>
          </a:p>
          <a:p>
            <a:pPr marL="285750" indent="-285750">
              <a:buFont typeface="Arial"/>
              <a:buChar char="•"/>
              <a:defRPr sz="1800" b="1"/>
            </a:pPr>
            <a:r>
              <a:rPr lang="ko-KR" altLang="en-US" sz="1200" dirty="0">
                <a:latin typeface="맑은 고딕"/>
                <a:ea typeface="맑은 고딕"/>
                <a:cs typeface="+mn-lt"/>
              </a:rPr>
              <a:t>선정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이유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: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최근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10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년은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'2020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코로나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팬데믹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폭락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', </a:t>
            </a:r>
            <a:br>
              <a:rPr lang="en-US" altLang="ko-KR" sz="1200" dirty="0">
                <a:latin typeface="맑은 고딕"/>
                <a:ea typeface="맑은 고딕"/>
                <a:cs typeface="+mn-lt"/>
              </a:rPr>
            </a:br>
            <a:r>
              <a:rPr lang="en-US" altLang="ko-KR" sz="1200" dirty="0">
                <a:latin typeface="맑은 고딕"/>
                <a:ea typeface="맑은 고딕"/>
                <a:cs typeface="+mn-lt"/>
              </a:rPr>
              <a:t>'2021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유동성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버블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', '2022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금리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인상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err="1">
                <a:latin typeface="맑은 고딕"/>
                <a:ea typeface="맑은 고딕"/>
                <a:cs typeface="+mn-lt"/>
              </a:rPr>
              <a:t>하락장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', '2023-24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AI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주도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err="1">
                <a:latin typeface="맑은 고딕"/>
                <a:ea typeface="맑은 고딕"/>
                <a:cs typeface="+mn-lt"/>
              </a:rPr>
              <a:t>상승장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'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등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br>
              <a:rPr lang="en-US" altLang="ko-KR" sz="1200" dirty="0">
                <a:latin typeface="맑은 고딕"/>
                <a:ea typeface="맑은 고딕"/>
                <a:cs typeface="+mn-lt"/>
              </a:rPr>
            </a:br>
            <a:r>
              <a:rPr lang="ko-KR" altLang="en-US" sz="1200" dirty="0">
                <a:latin typeface="맑은 고딕"/>
                <a:ea typeface="맑은 고딕"/>
                <a:cs typeface="+mn-lt"/>
              </a:rPr>
              <a:t>극단적인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시장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국면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(Regime)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이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모두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포함되어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있어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, AI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모델의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위기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관리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능력과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수익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추구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능력을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검증하기에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최적임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.</a:t>
            </a:r>
          </a:p>
          <a:p>
            <a:pPr>
              <a:defRPr sz="1800" b="1"/>
            </a:pPr>
            <a:endParaRPr b="0" dirty="0">
              <a:latin typeface="맑은 고딕"/>
              <a:ea typeface="맑은 고딕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718343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lang="en-US" dirty="0">
                <a:ea typeface="+mn-lt"/>
                <a:cs typeface="+mn-lt"/>
              </a:rPr>
              <a:t>Data &amp; Environment Setup</a:t>
            </a:r>
            <a:endParaRPr lang="ko-KR" dirty="0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B7814-D316-3E9A-61F6-CCAFF672D4B7}"/>
              </a:ext>
            </a:extLst>
          </p:cNvPr>
          <p:cNvSpPr txBox="1"/>
          <p:nvPr/>
        </p:nvSpPr>
        <p:spPr>
          <a:xfrm>
            <a:off x="457200" y="2688466"/>
            <a:ext cx="846141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맑은 고딕"/>
                <a:ea typeface="맑은 고딕"/>
              </a:rPr>
              <a:t>전처리</a:t>
            </a:r>
            <a:r>
              <a:rPr lang="en-US" b="1" dirty="0">
                <a:latin typeface="맑은 고딕"/>
                <a:ea typeface="맑은 고딕"/>
              </a:rPr>
              <a:t> (Preprocessing)</a:t>
            </a:r>
          </a:p>
          <a:p>
            <a:pPr marL="228600" indent="-228600">
              <a:buFont typeface=""/>
              <a:buChar char="•"/>
            </a:pP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기본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err="1">
                <a:latin typeface="맑은 고딕"/>
                <a:ea typeface="맑은 고딕"/>
                <a:cs typeface="Calibri"/>
              </a:rPr>
              <a:t>전처리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err="1">
                <a:latin typeface="맑은 고딕"/>
                <a:ea typeface="맑은 고딕"/>
                <a:cs typeface="Calibri"/>
              </a:rPr>
              <a:t>결측치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(</a:t>
            </a:r>
            <a:r>
              <a:rPr lang="en-US" sz="1200" err="1">
                <a:latin typeface="맑은 고딕"/>
                <a:ea typeface="맑은 고딕"/>
                <a:cs typeface="Calibri"/>
              </a:rPr>
              <a:t>NaN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)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제거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,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수정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주가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(Adjusted Close)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기준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수익률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산출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1200" b="1" dirty="0">
                <a:latin typeface="맑은 고딕"/>
                <a:ea typeface="맑은 고딕"/>
                <a:cs typeface="Calibri"/>
              </a:rPr>
              <a:t>Feature Engineering (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총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16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차원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입력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):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단순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가격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정보의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한계를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극복하기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위해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기술적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지표와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캔들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패턴을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결합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추세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지표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이동평균선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(SMA 5, 20, 60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), MACD, 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Ratio(20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일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 err="1">
                <a:latin typeface="맑은 고딕"/>
                <a:ea typeface="맑은 고딕"/>
                <a:cs typeface="Calibri"/>
              </a:rPr>
              <a:t>이평선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 err="1">
                <a:latin typeface="맑은 고딕"/>
                <a:ea typeface="맑은 고딕"/>
                <a:cs typeface="Calibri"/>
              </a:rPr>
              <a:t>괴리율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)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모멘텀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/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변동성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RSI(14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), Bollinger Bands, VIX, Volatility(20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변동성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).</a:t>
            </a:r>
          </a:p>
          <a:p>
            <a:pPr marL="228600" lvl="1" indent="-228600">
              <a:buFont typeface=""/>
              <a:buChar char="•"/>
            </a:pP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캔들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패턴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(Micro-structure):</a:t>
            </a:r>
          </a:p>
          <a:p>
            <a:pPr marL="228600" lvl="2" indent="-228600">
              <a:buFont typeface=""/>
              <a:buChar char="•"/>
            </a:pPr>
            <a:r>
              <a:rPr lang="en-US" sz="1200" b="1" dirty="0">
                <a:latin typeface="맑은 고딕"/>
                <a:ea typeface="맑은 고딕"/>
                <a:cs typeface="Calibri"/>
              </a:rPr>
              <a:t>Body(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몸통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):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시가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대비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종가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변화량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(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당일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추세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강도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).</a:t>
            </a:r>
          </a:p>
          <a:p>
            <a:pPr marL="228600" lvl="2" indent="-228600">
              <a:buFont typeface=""/>
              <a:buChar char="•"/>
            </a:pPr>
            <a:r>
              <a:rPr lang="en-US" sz="1200" b="1" dirty="0">
                <a:latin typeface="맑은 고딕"/>
                <a:ea typeface="맑은 고딕"/>
                <a:cs typeface="Calibri"/>
              </a:rPr>
              <a:t>Upper/Lower Shadow(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꼬리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):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장중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고점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매도세와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저점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매수세를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파악하여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장중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변동성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정보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제공함.</a:t>
            </a:r>
            <a:endParaRPr lang="en-US" sz="1200" dirty="0">
              <a:latin typeface="맑은 고딕"/>
              <a:ea typeface="맑은 고딕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정규화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(Normalization):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Calibri"/>
              </a:rPr>
              <a:t>VecNormalize</a:t>
            </a:r>
            <a:r>
              <a:rPr lang="ko-KR" altLang="en-US" sz="1200" dirty="0" err="1">
                <a:latin typeface="맑은 고딕"/>
                <a:ea typeface="맑은 고딕"/>
                <a:cs typeface="Calibri"/>
              </a:rPr>
              <a:t>를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적용하여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모든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 err="1">
                <a:latin typeface="맑은 고딕"/>
                <a:ea typeface="맑은 고딕"/>
                <a:cs typeface="Calibri"/>
              </a:rPr>
              <a:t>관측값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(State)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을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평균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0, </a:t>
            </a:r>
            <a:r>
              <a:rPr lang="ko-KR" altLang="en-US" sz="1200" b="1" dirty="0">
                <a:latin typeface="맑은 고딕"/>
                <a:ea typeface="맑은 고딕"/>
                <a:cs typeface="Calibri"/>
              </a:rPr>
              <a:t>분산</a:t>
            </a:r>
            <a:r>
              <a:rPr lang="en-US" sz="1200" b="1" dirty="0">
                <a:latin typeface="맑은 고딕"/>
                <a:ea typeface="맑은 고딕"/>
                <a:cs typeface="Calibri"/>
              </a:rPr>
              <a:t> 1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로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 err="1">
                <a:latin typeface="맑은 고딕"/>
                <a:ea typeface="맑은 고딕"/>
                <a:cs typeface="Calibri"/>
              </a:rPr>
              <a:t>스케일링하여</a:t>
            </a:r>
            <a:br>
              <a:rPr lang="en-US" altLang="ko-KR" sz="1200" dirty="0">
                <a:latin typeface="맑은 고딕"/>
                <a:ea typeface="맑은 고딕"/>
                <a:cs typeface="Calibri"/>
              </a:rPr>
            </a:br>
            <a:r>
              <a:rPr lang="ko-KR" altLang="en-US" sz="1200" dirty="0">
                <a:latin typeface="맑은 고딕"/>
                <a:ea typeface="맑은 고딕"/>
                <a:cs typeface="Calibri"/>
              </a:rPr>
              <a:t>학습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안정성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확보</a:t>
            </a:r>
            <a:r>
              <a:rPr lang="en-US" sz="1200" dirty="0">
                <a:latin typeface="맑은 고딕"/>
                <a:ea typeface="맑은 고딕"/>
                <a:cs typeface="Calibri"/>
              </a:rPr>
              <a:t>.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2F413-5ED4-4A7D-8E28-3EB8EF175913}"/>
              </a:ext>
            </a:extLst>
          </p:cNvPr>
          <p:cNvSpPr txBox="1"/>
          <p:nvPr/>
        </p:nvSpPr>
        <p:spPr>
          <a:xfrm>
            <a:off x="457200" y="4903630"/>
            <a:ext cx="846141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맑은 고딕"/>
                <a:ea typeface="맑은 고딕"/>
              </a:rPr>
              <a:t>환경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en-US" b="1" dirty="0" err="1">
                <a:latin typeface="맑은 고딕"/>
                <a:ea typeface="맑은 고딕"/>
              </a:rPr>
              <a:t>설계</a:t>
            </a:r>
            <a:r>
              <a:rPr lang="en-US" b="1" dirty="0">
                <a:latin typeface="맑은 고딕"/>
                <a:ea typeface="맑은 고딕"/>
              </a:rPr>
              <a:t> (Environment Design)</a:t>
            </a:r>
          </a:p>
          <a:p>
            <a:pPr marL="228600" indent="-228600">
              <a:buFont typeface=""/>
              <a:buChar char="•"/>
            </a:pPr>
            <a:r>
              <a:rPr lang="en-US" sz="1200" b="1" err="1">
                <a:latin typeface="맑은 고딕"/>
                <a:ea typeface="맑은 고딕"/>
              </a:rPr>
              <a:t>상태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공간</a:t>
            </a:r>
            <a:r>
              <a:rPr lang="en-US" sz="1200" b="1" dirty="0">
                <a:latin typeface="맑은 고딕"/>
                <a:ea typeface="맑은 고딕"/>
              </a:rPr>
              <a:t> (Observation):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시장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데이터</a:t>
            </a:r>
            <a:r>
              <a:rPr lang="en-US" sz="1200" dirty="0">
                <a:latin typeface="맑은 고딕"/>
                <a:ea typeface="맑은 고딕"/>
              </a:rPr>
              <a:t>(16개 Feature) + </a:t>
            </a:r>
            <a:r>
              <a:rPr lang="en-US" sz="1200" err="1">
                <a:latin typeface="맑은 고딕"/>
                <a:ea typeface="맑은 고딕"/>
              </a:rPr>
              <a:t>포트폴리오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상태</a:t>
            </a:r>
            <a:r>
              <a:rPr lang="en-US" sz="1200" dirty="0">
                <a:latin typeface="맑은 고딕"/>
                <a:ea typeface="맑은 고딕"/>
              </a:rPr>
              <a:t>(</a:t>
            </a:r>
            <a:r>
              <a:rPr lang="en-US" sz="1200" err="1">
                <a:latin typeface="맑은 고딕"/>
                <a:ea typeface="맑은 고딕"/>
              </a:rPr>
              <a:t>현재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비중</a:t>
            </a:r>
            <a:r>
              <a:rPr lang="en-US" sz="1200" dirty="0">
                <a:latin typeface="맑은 고딕"/>
                <a:ea typeface="맑은 고딕"/>
              </a:rPr>
              <a:t>, </a:t>
            </a:r>
            <a:r>
              <a:rPr lang="en-US" sz="1200" err="1">
                <a:latin typeface="맑은 고딕"/>
                <a:ea typeface="맑은 고딕"/>
              </a:rPr>
              <a:t>수익률</a:t>
            </a:r>
            <a:r>
              <a:rPr lang="en-US" sz="1200" dirty="0">
                <a:latin typeface="맑은 고딕"/>
                <a:ea typeface="맑은 고딕"/>
              </a:rPr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 sz="1200" b="1" err="1">
                <a:latin typeface="맑은 고딕"/>
                <a:ea typeface="맑은 고딕"/>
              </a:rPr>
              <a:t>행동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공간</a:t>
            </a:r>
            <a:r>
              <a:rPr lang="en-US" sz="1200" b="1" dirty="0">
                <a:latin typeface="맑은 고딕"/>
                <a:ea typeface="맑은 고딕"/>
              </a:rPr>
              <a:t> (Action):</a:t>
            </a:r>
            <a:r>
              <a:rPr lang="en-US" sz="1200" dirty="0">
                <a:latin typeface="맑은 고딕"/>
                <a:ea typeface="맑은 고딕"/>
              </a:rPr>
              <a:t> Continuous Box(0.0, 1.0)</a:t>
            </a:r>
          </a:p>
          <a:p>
            <a:pPr marL="228600" lvl="1" indent="-228600">
              <a:buFont typeface=""/>
              <a:buChar char="•"/>
            </a:pPr>
            <a:r>
              <a:rPr lang="en-US" sz="1200" dirty="0">
                <a:latin typeface="맑은 고딕"/>
                <a:ea typeface="맑은 고딕"/>
              </a:rPr>
              <a:t>0%(</a:t>
            </a:r>
            <a:r>
              <a:rPr lang="en-US" sz="1200" err="1">
                <a:latin typeface="맑은 고딕"/>
                <a:ea typeface="맑은 고딕"/>
              </a:rPr>
              <a:t>전량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현금</a:t>
            </a:r>
            <a:r>
              <a:rPr lang="en-US" sz="1200" dirty="0">
                <a:latin typeface="맑은 고딕"/>
                <a:ea typeface="맑은 고딕"/>
              </a:rPr>
              <a:t>) ~ 100%(</a:t>
            </a:r>
            <a:r>
              <a:rPr lang="en-US" sz="1200" err="1">
                <a:latin typeface="맑은 고딕"/>
                <a:ea typeface="맑은 고딕"/>
              </a:rPr>
              <a:t>전량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주식</a:t>
            </a:r>
            <a:r>
              <a:rPr lang="en-US" sz="1200" dirty="0">
                <a:latin typeface="맑은 고딕"/>
                <a:ea typeface="맑은 고딕"/>
              </a:rPr>
              <a:t>) </a:t>
            </a:r>
            <a:r>
              <a:rPr lang="en-US" sz="1200" err="1">
                <a:latin typeface="맑은 고딕"/>
                <a:ea typeface="맑은 고딕"/>
              </a:rPr>
              <a:t>사이에서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비중을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연속적으로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조절</a:t>
            </a:r>
            <a:r>
              <a:rPr lang="en-US" sz="1200" err="1">
                <a:latin typeface="맑은 고딕"/>
                <a:ea typeface="맑은 고딕"/>
              </a:rPr>
              <a:t>하여</a:t>
            </a:r>
            <a:r>
              <a:rPr lang="en-US" sz="1200" dirty="0">
                <a:latin typeface="맑은 고딕"/>
                <a:ea typeface="맑은 고딕"/>
              </a:rPr>
              <a:t>, </a:t>
            </a:r>
            <a:r>
              <a:rPr lang="en-US" sz="1200" err="1">
                <a:latin typeface="맑은 고딕"/>
                <a:ea typeface="맑은 고딕"/>
              </a:rPr>
              <a:t>단순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매수</a:t>
            </a:r>
            <a:r>
              <a:rPr lang="en-US" sz="1200" dirty="0">
                <a:latin typeface="맑은 고딕"/>
                <a:ea typeface="맑은 고딕"/>
              </a:rPr>
              <a:t>/</a:t>
            </a:r>
            <a:r>
              <a:rPr lang="en-US" sz="1200" err="1">
                <a:latin typeface="맑은 고딕"/>
                <a:ea typeface="맑은 고딕"/>
              </a:rPr>
              <a:t>매도보다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정교한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리스크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관리가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가능하도록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설계</a:t>
            </a:r>
            <a:r>
              <a:rPr lang="en-US" sz="1200" dirty="0">
                <a:latin typeface="맑은 고딕"/>
                <a:ea typeface="맑은 고딕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1200" b="1" err="1">
                <a:latin typeface="맑은 고딕"/>
                <a:ea typeface="맑은 고딕"/>
              </a:rPr>
              <a:t>보상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함수</a:t>
            </a:r>
            <a:r>
              <a:rPr lang="en-US" sz="1200" b="1" dirty="0">
                <a:latin typeface="맑은 고딕"/>
                <a:ea typeface="맑은 고딕"/>
              </a:rPr>
              <a:t> (Reward):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일일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포트폴리오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수익률</a:t>
            </a:r>
            <a:r>
              <a:rPr lang="en-US" sz="1200" dirty="0">
                <a:latin typeface="맑은 고딕"/>
                <a:ea typeface="맑은 고딕"/>
              </a:rPr>
              <a:t>(%) (</a:t>
            </a:r>
            <a:r>
              <a:rPr lang="en-US" sz="1200" err="1">
                <a:latin typeface="맑은 고딕"/>
                <a:ea typeface="맑은 고딕"/>
              </a:rPr>
              <a:t>거래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수수료</a:t>
            </a:r>
            <a:r>
              <a:rPr lang="en-US" sz="1200" dirty="0">
                <a:latin typeface="맑은 고딕"/>
                <a:ea typeface="맑은 고딕"/>
              </a:rPr>
              <a:t> 0.1% </a:t>
            </a:r>
            <a:r>
              <a:rPr lang="ko-KR" altLang="en-US" sz="1200" dirty="0">
                <a:latin typeface="맑은 고딕"/>
                <a:ea typeface="맑은 고딕"/>
              </a:rPr>
              <a:t>가정하여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차감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반영</a:t>
            </a:r>
            <a:r>
              <a:rPr lang="en-US" sz="1200" dirty="0">
                <a:latin typeface="맑은 고딕"/>
                <a:ea typeface="맑은 고딕"/>
              </a:rPr>
              <a:t>).</a:t>
            </a: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979085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lang="en-US" dirty="0">
                <a:ea typeface="+mn-lt"/>
                <a:cs typeface="+mn-lt"/>
              </a:rPr>
              <a:t>RL Methodology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CE205-E036-F0D3-F99D-343E0C89E0B4}"/>
              </a:ext>
            </a:extLst>
          </p:cNvPr>
          <p:cNvSpPr txBox="1"/>
          <p:nvPr/>
        </p:nvSpPr>
        <p:spPr>
          <a:xfrm>
            <a:off x="457200" y="1072166"/>
            <a:ext cx="845498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State (</a:t>
            </a:r>
            <a:r>
              <a:rPr lang="en-US" b="1" dirty="0" err="1">
                <a:latin typeface="맑은 고딕"/>
                <a:ea typeface="맑은 고딕"/>
              </a:rPr>
              <a:t>상태</a:t>
            </a:r>
            <a:r>
              <a:rPr lang="en-US" b="1" dirty="0">
                <a:latin typeface="맑은 고딕"/>
                <a:ea typeface="맑은 고딕"/>
              </a:rPr>
              <a:t>):</a:t>
            </a:r>
            <a:r>
              <a:rPr lang="en-US" dirty="0">
                <a:latin typeface="맑은 고딕"/>
                <a:ea typeface="맑은 고딕"/>
              </a:rPr>
              <a:t> </a:t>
            </a:r>
            <a:endParaRPr lang="ko-KR" dirty="0">
              <a:latin typeface="맑은 고딕"/>
              <a:ea typeface="맑은 고딕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sz="1200" err="1">
                <a:latin typeface="맑은 고딕"/>
                <a:ea typeface="맑은 고딕"/>
              </a:rPr>
              <a:t>시장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정보</a:t>
            </a:r>
            <a:r>
              <a:rPr lang="en-US" sz="1200" dirty="0">
                <a:latin typeface="맑은 고딕"/>
                <a:ea typeface="맑은 고딕"/>
              </a:rPr>
              <a:t>(16개 </a:t>
            </a:r>
            <a:r>
              <a:rPr lang="en-US" sz="1200" err="1">
                <a:latin typeface="맑은 고딕"/>
                <a:ea typeface="맑은 고딕"/>
              </a:rPr>
              <a:t>기술적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지표</a:t>
            </a:r>
            <a:r>
              <a:rPr lang="en-US" sz="1200" dirty="0">
                <a:latin typeface="맑은 고딕"/>
                <a:ea typeface="맑은 고딕"/>
              </a:rPr>
              <a:t>) + </a:t>
            </a:r>
            <a:r>
              <a:rPr lang="en-US" sz="1200" err="1">
                <a:latin typeface="맑은 고딕"/>
                <a:ea typeface="맑은 고딕"/>
              </a:rPr>
              <a:t>포트폴리오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상태</a:t>
            </a:r>
            <a:r>
              <a:rPr lang="en-US" sz="1200" dirty="0">
                <a:latin typeface="맑은 고딕"/>
                <a:ea typeface="맑은 고딕"/>
              </a:rPr>
              <a:t>(</a:t>
            </a:r>
            <a:r>
              <a:rPr lang="en-US" sz="1200" err="1">
                <a:latin typeface="맑은 고딕"/>
                <a:ea typeface="맑은 고딕"/>
              </a:rPr>
              <a:t>현재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보유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비중</a:t>
            </a:r>
            <a:r>
              <a:rPr lang="en-US" sz="1200" dirty="0">
                <a:latin typeface="맑은 고딕"/>
                <a:ea typeface="맑은 고딕"/>
              </a:rPr>
              <a:t>, </a:t>
            </a:r>
            <a:r>
              <a:rPr lang="en-US" sz="1200" err="1">
                <a:latin typeface="맑은 고딕"/>
                <a:ea typeface="맑은 고딕"/>
              </a:rPr>
              <a:t>수익률</a:t>
            </a:r>
            <a:r>
              <a:rPr lang="en-US" sz="1200" dirty="0">
                <a:latin typeface="맑은 고딕"/>
                <a:ea typeface="맑은 고딕"/>
              </a:rPr>
              <a:t>).</a:t>
            </a:r>
            <a:endParaRPr lang="en-US" sz="1400">
              <a:latin typeface="맑은 고딕"/>
              <a:ea typeface="맑은 고딕"/>
              <a:cs typeface="Calibri"/>
            </a:endParaRPr>
          </a:p>
          <a:p>
            <a:pPr lvl="1"/>
            <a:endParaRPr lang="en-US" sz="1200" dirty="0">
              <a:latin typeface="맑은 고딕"/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Action (</a:t>
            </a:r>
            <a:r>
              <a:rPr lang="en-US" b="1" dirty="0" err="1">
                <a:latin typeface="맑은 고딕"/>
                <a:ea typeface="맑은 고딕"/>
              </a:rPr>
              <a:t>행동</a:t>
            </a:r>
            <a:r>
              <a:rPr lang="en-US" b="1" dirty="0">
                <a:latin typeface="맑은 고딕"/>
                <a:ea typeface="맑은 고딕"/>
              </a:rPr>
              <a:t>):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b="1" dirty="0">
                <a:latin typeface="맑은 고딕"/>
                <a:ea typeface="맑은 고딕"/>
              </a:rPr>
              <a:t>Continuous Control (</a:t>
            </a:r>
            <a:r>
              <a:rPr lang="en-US" b="1" dirty="0" err="1">
                <a:latin typeface="맑은 고딕"/>
                <a:ea typeface="맑은 고딕"/>
              </a:rPr>
              <a:t>연속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en-US" b="1" dirty="0" err="1">
                <a:latin typeface="맑은 고딕"/>
                <a:ea typeface="맑은 고딕"/>
              </a:rPr>
              <a:t>제어</a:t>
            </a:r>
            <a:r>
              <a:rPr lang="en-US" b="1" dirty="0">
                <a:latin typeface="맑은 고딕"/>
                <a:ea typeface="맑은 고딕"/>
              </a:rPr>
              <a:t>)</a:t>
            </a:r>
            <a:endParaRPr lang="en-US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>
                <a:latin typeface="맑은 고딕"/>
                <a:ea typeface="맑은 고딕"/>
              </a:rPr>
              <a:t>Figure: Box(0.0, 1.0)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>
                <a:latin typeface="맑은 고딕"/>
                <a:ea typeface="맑은 고딕"/>
              </a:rPr>
              <a:t>Meaning: </a:t>
            </a:r>
            <a:r>
              <a:rPr lang="en-US" sz="1200" dirty="0" err="1">
                <a:latin typeface="맑은 고딕"/>
                <a:ea typeface="맑은 고딕"/>
              </a:rPr>
              <a:t>목표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ko-KR" altLang="en-US" sz="1200" dirty="0" err="1">
                <a:latin typeface="맑은 고딕"/>
                <a:ea typeface="맑은 고딕"/>
              </a:rPr>
              <a:t>인덱스</a:t>
            </a:r>
            <a:r>
              <a:rPr lang="en-US" altLang="ko-KR" sz="1200" dirty="0"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latin typeface="맑은 고딕"/>
                <a:ea typeface="맑은 고딕"/>
              </a:rPr>
              <a:t>보유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비중</a:t>
            </a:r>
            <a:endParaRPr lang="en-US" sz="1200" dirty="0" err="1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i="1" dirty="0">
                <a:latin typeface="맑은 고딕"/>
                <a:ea typeface="맑은 고딕"/>
              </a:rPr>
              <a:t>Difference: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단순히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사고파는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것이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아니라</a:t>
            </a:r>
            <a:r>
              <a:rPr lang="en-US" sz="1200" dirty="0">
                <a:latin typeface="맑은 고딕"/>
                <a:ea typeface="맑은 고딕"/>
              </a:rPr>
              <a:t>, </a:t>
            </a:r>
            <a:r>
              <a:rPr lang="en-US" sz="1200" dirty="0" err="1">
                <a:latin typeface="맑은 고딕"/>
                <a:ea typeface="맑은 고딕"/>
              </a:rPr>
              <a:t>확신이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들면</a:t>
            </a:r>
            <a:r>
              <a:rPr lang="en-US" sz="1200" dirty="0">
                <a:latin typeface="맑은 고딕"/>
                <a:ea typeface="맑은 고딕"/>
              </a:rPr>
              <a:t> 100%, </a:t>
            </a:r>
            <a:r>
              <a:rPr lang="en-US" sz="1200" dirty="0" err="1">
                <a:latin typeface="맑은 고딕"/>
                <a:ea typeface="맑은 고딕"/>
              </a:rPr>
              <a:t>불안하면</a:t>
            </a:r>
            <a:r>
              <a:rPr lang="en-US" sz="1200" dirty="0">
                <a:latin typeface="맑은 고딕"/>
                <a:ea typeface="맑은 고딕"/>
              </a:rPr>
              <a:t> 30%</a:t>
            </a:r>
            <a:r>
              <a:rPr lang="ko-KR" altLang="en-US" sz="1200" dirty="0">
                <a:latin typeface="맑은 고딕"/>
                <a:ea typeface="맑은 고딕"/>
              </a:rPr>
              <a:t>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latin typeface="맑은 고딕"/>
                <a:ea typeface="맑은 고딕"/>
              </a:rPr>
              <a:t>같이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비중을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미세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조절함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400" dirty="0">
              <a:latin typeface="맑은 고딕"/>
              <a:ea typeface="맑은 고딕"/>
              <a:cs typeface="Calibri"/>
            </a:endParaRPr>
          </a:p>
          <a:p>
            <a:pPr marL="457200" lvl="2"/>
            <a:endParaRPr lang="en-US" sz="1200" dirty="0">
              <a:latin typeface="맑은 고딕"/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Reward (</a:t>
            </a:r>
            <a:r>
              <a:rPr lang="en-US" b="1" dirty="0" err="1">
                <a:latin typeface="맑은 고딕"/>
                <a:ea typeface="맑은 고딕"/>
              </a:rPr>
              <a:t>보상</a:t>
            </a:r>
            <a:r>
              <a:rPr lang="en-US" b="1" dirty="0">
                <a:latin typeface="맑은 고딕"/>
                <a:ea typeface="맑은 고딕"/>
              </a:rPr>
              <a:t>):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b="1" dirty="0">
                <a:latin typeface="맑은 고딕"/>
                <a:ea typeface="맑은 고딕"/>
              </a:rPr>
              <a:t>Daily Portfolio Return (%)</a:t>
            </a:r>
            <a:r>
              <a:rPr lang="en-US" dirty="0">
                <a:latin typeface="맑은 고딕"/>
                <a:ea typeface="맑은 고딕"/>
              </a:rPr>
              <a:t>.</a:t>
            </a:r>
            <a:endParaRPr lang="en-US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 err="1">
                <a:latin typeface="맑은 고딕"/>
                <a:ea typeface="맑은 고딕"/>
              </a:rPr>
              <a:t>포트폴리오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가치가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전날보다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오르면</a:t>
            </a:r>
            <a:r>
              <a:rPr lang="en-US" sz="1200" dirty="0">
                <a:latin typeface="맑은 고딕"/>
                <a:ea typeface="맑은 고딕"/>
              </a:rPr>
              <a:t> (+), </a:t>
            </a:r>
            <a:r>
              <a:rPr lang="en-US" sz="1200" dirty="0" err="1">
                <a:latin typeface="맑은 고딕"/>
                <a:ea typeface="맑은 고딕"/>
              </a:rPr>
              <a:t>내리면</a:t>
            </a:r>
            <a:r>
              <a:rPr lang="en-US" sz="1200" dirty="0">
                <a:latin typeface="맑은 고딕"/>
                <a:ea typeface="맑은 고딕"/>
              </a:rPr>
              <a:t> (-) </a:t>
            </a:r>
            <a:r>
              <a:rPr lang="en-US" sz="1200" dirty="0" err="1">
                <a:latin typeface="맑은 고딕"/>
                <a:ea typeface="맑은 고딕"/>
              </a:rPr>
              <a:t>보상</a:t>
            </a:r>
            <a:r>
              <a:rPr lang="en-US" sz="1200" dirty="0">
                <a:latin typeface="맑은 고딕"/>
                <a:ea typeface="맑은 고딕"/>
              </a:rPr>
              <a:t>. (</a:t>
            </a:r>
            <a:r>
              <a:rPr lang="en-US" sz="1200" dirty="0" err="1">
                <a:latin typeface="맑은 고딕"/>
                <a:ea typeface="맑은 고딕"/>
              </a:rPr>
              <a:t>거래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수수료</a:t>
            </a:r>
            <a:r>
              <a:rPr lang="en-US" sz="1200" dirty="0">
                <a:latin typeface="맑은 고딕"/>
                <a:ea typeface="맑은 고딕"/>
              </a:rPr>
              <a:t> 0.1% </a:t>
            </a:r>
            <a:r>
              <a:rPr lang="en-US" sz="1200" dirty="0" err="1">
                <a:latin typeface="맑은 고딕"/>
                <a:ea typeface="맑은 고딕"/>
              </a:rPr>
              <a:t>반영</a:t>
            </a:r>
            <a:r>
              <a:rPr lang="en-US" sz="1200" dirty="0">
                <a:latin typeface="맑은 고딕"/>
                <a:ea typeface="맑은 고딕"/>
              </a:rPr>
              <a:t>).</a:t>
            </a:r>
            <a:endParaRPr lang="en-US" sz="1200" dirty="0">
              <a:latin typeface="맑은 고딕"/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517886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lang="en-US" dirty="0">
                <a:ea typeface="+mn-lt"/>
                <a:cs typeface="+mn-lt"/>
              </a:rPr>
              <a:t>Experimental Setup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6B733-33D7-C89B-FBFE-14FF08541A2D}"/>
              </a:ext>
            </a:extLst>
          </p:cNvPr>
          <p:cNvSpPr txBox="1"/>
          <p:nvPr/>
        </p:nvSpPr>
        <p:spPr>
          <a:xfrm>
            <a:off x="457200" y="1020651"/>
            <a:ext cx="845498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ko-KR" altLang="en-US" b="1" dirty="0">
                <a:latin typeface="맑은 고딕"/>
                <a:ea typeface="맑은 고딕"/>
                <a:cs typeface="+mn-lt"/>
              </a:rPr>
              <a:t>비교 알고리즘:</a:t>
            </a:r>
          </a:p>
          <a:p>
            <a:endParaRPr lang="ko-KR" altLang="en-US" b="1" dirty="0">
              <a:latin typeface="맑은 고딕"/>
              <a:ea typeface="맑은 고딕"/>
              <a:cs typeface="+mn-lt"/>
            </a:endParaRPr>
          </a:p>
          <a:p>
            <a:pPr lvl="1"/>
            <a:r>
              <a:rPr lang="en-US" b="1" dirty="0">
                <a:latin typeface="맑은 고딕"/>
                <a:ea typeface="맑은 고딕"/>
                <a:cs typeface="+mn-lt"/>
              </a:rPr>
              <a:t>PPO (Proximal Policy Optimization) </a:t>
            </a:r>
            <a:endParaRPr lang="ko-KR" b="1">
              <a:latin typeface="맑은 고딕"/>
              <a:ea typeface="맑은 고딕"/>
              <a:cs typeface="+mn-lt"/>
            </a:endParaRPr>
          </a:p>
          <a:p>
            <a:pPr lvl="1"/>
            <a:r>
              <a:rPr lang="en-US" sz="1200" dirty="0">
                <a:latin typeface="맑은 고딕"/>
                <a:ea typeface="맑은 고딕"/>
                <a:cs typeface="+mn-lt"/>
              </a:rPr>
              <a:t>→ On-policy,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안정적인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학습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(Baseline),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보수적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성향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예상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. </a:t>
            </a:r>
            <a:endParaRPr lang="en-US" dirty="0">
              <a:latin typeface="맑은 고딕"/>
              <a:ea typeface="맑은 고딕"/>
              <a:cs typeface="+mn-lt"/>
            </a:endParaRPr>
          </a:p>
          <a:p>
            <a:pPr lvl="1"/>
            <a:endParaRPr lang="en-US" sz="1200" dirty="0">
              <a:latin typeface="맑은 고딕"/>
              <a:ea typeface="맑은 고딕"/>
              <a:cs typeface="+mn-lt"/>
            </a:endParaRPr>
          </a:p>
          <a:p>
            <a:pPr lvl="1"/>
            <a:r>
              <a:rPr lang="en-US" b="1" dirty="0">
                <a:latin typeface="맑은 고딕"/>
                <a:ea typeface="맑은 고딕"/>
                <a:cs typeface="+mn-lt"/>
              </a:rPr>
              <a:t>SAC (Soft Actor-Critic) </a:t>
            </a:r>
            <a:endParaRPr lang="en-US" b="1">
              <a:latin typeface="맑은 고딕"/>
              <a:ea typeface="맑은 고딕"/>
              <a:cs typeface="Calibri"/>
            </a:endParaRPr>
          </a:p>
          <a:p>
            <a:pPr marL="457200" lvl="2"/>
            <a:r>
              <a:rPr lang="en-US" sz="1200" dirty="0">
                <a:latin typeface="맑은 고딕"/>
                <a:ea typeface="맑은 고딕"/>
                <a:cs typeface="+mn-lt"/>
              </a:rPr>
              <a:t>→ Off-policy,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엔트로피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최대화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(Maximum Entropy)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로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탐험을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즐김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,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공격적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성향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예상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.</a:t>
            </a:r>
            <a:endParaRPr lang="en-US">
              <a:latin typeface="맑은 고딕"/>
              <a:ea typeface="맑은 고딕"/>
              <a:cs typeface="+mn-lt"/>
            </a:endParaRPr>
          </a:p>
          <a:p>
            <a:pPr marL="457200" lvl="2"/>
            <a:endParaRPr lang="en-US" sz="1200" dirty="0">
              <a:latin typeface="맑은 고딕"/>
              <a:ea typeface="맑은 고딕"/>
            </a:endParaRPr>
          </a:p>
          <a:p>
            <a:pPr lvl="1"/>
            <a:r>
              <a:rPr lang="en-US" b="1" dirty="0">
                <a:latin typeface="맑은 고딕"/>
                <a:ea typeface="맑은 고딕"/>
                <a:cs typeface="+mn-lt"/>
              </a:rPr>
              <a:t>TD3 (Twin Delayed DDPG)</a:t>
            </a:r>
          </a:p>
          <a:p>
            <a:pPr marL="457200" lvl="2"/>
            <a:r>
              <a:rPr lang="en-US" sz="1200" dirty="0">
                <a:latin typeface="맑은 고딕"/>
                <a:ea typeface="맑은 고딕"/>
                <a:cs typeface="+mn-lt"/>
              </a:rPr>
              <a:t>→ Off-policy,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과대평가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억제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(Twin Critic),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노이즈에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강건할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것으로</a:t>
            </a:r>
            <a:r>
              <a:rPr lang="en-US" altLang="ko-KR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예상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. </a:t>
            </a:r>
            <a:endParaRPr lang="en-US">
              <a:latin typeface="맑은 고딕"/>
              <a:ea typeface="맑은 고딕"/>
              <a:cs typeface="Calibri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F00B9-40E0-7B9E-54D8-B5C502A4A017}"/>
              </a:ext>
            </a:extLst>
          </p:cNvPr>
          <p:cNvSpPr txBox="1"/>
          <p:nvPr/>
        </p:nvSpPr>
        <p:spPr>
          <a:xfrm>
            <a:off x="457200" y="3693017"/>
            <a:ext cx="81072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 err="1">
                <a:latin typeface="맑은 고딕"/>
                <a:ea typeface="맑은 고딕"/>
              </a:rPr>
              <a:t>검증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en-US" b="1" dirty="0" err="1">
                <a:latin typeface="맑은 고딕"/>
                <a:ea typeface="맑은 고딕"/>
              </a:rPr>
              <a:t>방법</a:t>
            </a:r>
            <a:r>
              <a:rPr lang="en-US" b="1" dirty="0">
                <a:latin typeface="맑은 고딕"/>
                <a:ea typeface="맑은 고딕"/>
              </a:rPr>
              <a:t>: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b="1" dirty="0">
                <a:latin typeface="맑은 고딕"/>
                <a:ea typeface="맑은 고딕"/>
              </a:rPr>
              <a:t>Multi-Seed Validation</a:t>
            </a:r>
            <a:r>
              <a:rPr lang="en-US" dirty="0">
                <a:latin typeface="맑은 고딕"/>
                <a:ea typeface="맑은 고딕"/>
              </a:rPr>
              <a:t>.</a:t>
            </a:r>
          </a:p>
          <a:p>
            <a:pPr marL="0" lvl="1"/>
            <a:r>
              <a:rPr lang="en-US" b="1" dirty="0">
                <a:latin typeface="맑은 고딕"/>
                <a:ea typeface="맑은 고딕"/>
              </a:rPr>
              <a:t> - </a:t>
            </a:r>
            <a:r>
              <a:rPr lang="en-US" sz="1200" b="1" dirty="0">
                <a:latin typeface="맑은 고딕"/>
                <a:ea typeface="맑은 고딕"/>
              </a:rPr>
              <a:t>5개의 </a:t>
            </a:r>
            <a:r>
              <a:rPr lang="en-US" sz="1200" b="1" err="1">
                <a:latin typeface="맑은 고딕"/>
                <a:ea typeface="맑은 고딕"/>
              </a:rPr>
              <a:t>서로</a:t>
            </a:r>
            <a:r>
              <a:rPr lang="en-US" sz="1200" b="1" dirty="0">
                <a:latin typeface="맑은 고딕"/>
                <a:ea typeface="맑은 고딕"/>
              </a:rPr>
              <a:t> </a:t>
            </a:r>
            <a:r>
              <a:rPr lang="en-US" sz="1200" b="1" err="1">
                <a:latin typeface="맑은 고딕"/>
                <a:ea typeface="맑은 고딕"/>
              </a:rPr>
              <a:t>다른</a:t>
            </a:r>
            <a:r>
              <a:rPr lang="en-US" sz="1200" b="1" dirty="0">
                <a:latin typeface="맑은 고딕"/>
                <a:ea typeface="맑은 고딕"/>
              </a:rPr>
              <a:t> Random </a:t>
            </a:r>
            <a:r>
              <a:rPr lang="en-US" sz="1200" b="1" err="1">
                <a:latin typeface="맑은 고딕"/>
                <a:ea typeface="맑은 고딕"/>
              </a:rPr>
              <a:t>Seed</a:t>
            </a:r>
            <a:r>
              <a:rPr lang="en-US" sz="1200" err="1">
                <a:latin typeface="맑은 고딕"/>
                <a:ea typeface="맑은 고딕"/>
              </a:rPr>
              <a:t>로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실험하여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평균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성능을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비교함</a:t>
            </a:r>
            <a:r>
              <a:rPr lang="en-US" sz="1200" dirty="0">
                <a:latin typeface="맑은 고딕"/>
                <a:ea typeface="맑은 고딕"/>
              </a:rPr>
              <a:t>.</a:t>
            </a: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406539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F439E-3D9E-589A-5A33-F55B5234FF02}"/>
              </a:ext>
            </a:extLst>
          </p:cNvPr>
          <p:cNvSpPr txBox="1"/>
          <p:nvPr/>
        </p:nvSpPr>
        <p:spPr>
          <a:xfrm>
            <a:off x="457200" y="1585301"/>
            <a:ext cx="839702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Wingdings,Sans-Serif"/>
              <a:buChar char="•"/>
            </a:pPr>
            <a:r>
              <a:rPr lang="en-US" b="1" dirty="0">
                <a:latin typeface="맑은 고딕"/>
                <a:ea typeface="맑은 고딕"/>
              </a:rPr>
              <a:t>1위 SAC: </a:t>
            </a:r>
            <a:r>
              <a:rPr lang="ko-KR" altLang="en-US" dirty="0">
                <a:ea typeface="+mn-lt"/>
                <a:cs typeface="+mn-lt"/>
              </a:rPr>
              <a:t>평균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수익률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14.38%</a:t>
            </a:r>
            <a:endParaRPr lang="en-US" dirty="0">
              <a:ea typeface="Calibri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err="1">
                <a:latin typeface="맑은 고딕"/>
                <a:ea typeface="맑은 고딕"/>
              </a:rPr>
              <a:t>상승장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초입을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포착하여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과감하게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비중을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싣는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능력이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탁월함</a:t>
            </a:r>
            <a:r>
              <a:rPr lang="en-US" sz="1200" dirty="0">
                <a:latin typeface="맑은 고딕"/>
                <a:ea typeface="맑은 고딕"/>
              </a:rPr>
              <a:t>. </a:t>
            </a:r>
            <a:r>
              <a:rPr lang="en-US" sz="1200" err="1">
                <a:latin typeface="맑은 고딕"/>
                <a:ea typeface="맑은 고딕"/>
              </a:rPr>
              <a:t>대신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변동성</a:t>
            </a:r>
            <a:r>
              <a:rPr lang="en-US" sz="1200" dirty="0">
                <a:latin typeface="맑은 고딕"/>
                <a:ea typeface="맑은 고딕"/>
              </a:rPr>
              <a:t>(</a:t>
            </a:r>
            <a:r>
              <a:rPr lang="en-US" sz="1200" err="1">
                <a:latin typeface="맑은 고딕"/>
                <a:ea typeface="맑은 고딕"/>
              </a:rPr>
              <a:t>표준편차</a:t>
            </a:r>
            <a:r>
              <a:rPr lang="en-US" sz="1200" dirty="0">
                <a:latin typeface="맑은 고딕"/>
                <a:ea typeface="맑은 고딕"/>
              </a:rPr>
              <a:t>)이 큼.</a:t>
            </a:r>
            <a:endParaRPr lang="en-US" sz="1200">
              <a:latin typeface="맑은 고딕"/>
              <a:ea typeface="맑은 고딕"/>
              <a:cs typeface="Calibri"/>
            </a:endParaRPr>
          </a:p>
          <a:p>
            <a:pPr marL="457200" lvl="2"/>
            <a:endParaRPr lang="en-US" sz="1200" dirty="0">
              <a:latin typeface="맑은 고딕"/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endParaRPr lang="en-US" sz="1200" dirty="0">
              <a:latin typeface="맑은 고딕"/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2위 PPO: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err="1">
                <a:latin typeface="맑은 고딕"/>
                <a:ea typeface="맑은 고딕"/>
              </a:rPr>
              <a:t>평균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ko-KR" altLang="en-US" err="1">
                <a:latin typeface="맑은 고딕"/>
                <a:ea typeface="맑은 고딕"/>
              </a:rPr>
              <a:t>수익률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b="1" dirty="0">
                <a:latin typeface="맑은 고딕"/>
                <a:ea typeface="맑은 고딕"/>
              </a:rPr>
              <a:t>2.54%</a:t>
            </a:r>
            <a:r>
              <a:rPr lang="en-US" dirty="0">
                <a:latin typeface="맑은 고딕"/>
                <a:ea typeface="맑은 고딕"/>
              </a:rPr>
              <a:t>.</a:t>
            </a:r>
            <a:endParaRPr lang="en-US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dirty="0" err="1">
                <a:latin typeface="맑은 고딕"/>
                <a:ea typeface="맑은 고딕"/>
              </a:rPr>
              <a:t>손실은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보지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않았으나</a:t>
            </a:r>
            <a:r>
              <a:rPr lang="en-US" sz="1200" dirty="0">
                <a:latin typeface="맑은 고딕"/>
                <a:ea typeface="맑은 고딕"/>
              </a:rPr>
              <a:t>(Min 1.24%), </a:t>
            </a:r>
            <a:r>
              <a:rPr lang="en-US" sz="1200" dirty="0" err="1">
                <a:latin typeface="맑은 고딕"/>
                <a:ea typeface="맑은 고딕"/>
              </a:rPr>
              <a:t>너무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안전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지향적이라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시장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상승분을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따라가지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dirty="0" err="1">
                <a:latin typeface="맑은 고딕"/>
                <a:ea typeface="맑은 고딕"/>
              </a:rPr>
              <a:t>못함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400" dirty="0">
              <a:latin typeface="맑은 고딕"/>
              <a:ea typeface="맑은 고딕"/>
              <a:cs typeface="Calibri"/>
            </a:endParaRPr>
          </a:p>
          <a:p>
            <a:pPr marL="457200" lvl="2"/>
            <a:endParaRPr lang="en-US" sz="1200" dirty="0">
              <a:latin typeface="맑은 고딕"/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endParaRPr lang="en-US" sz="1200" dirty="0">
              <a:latin typeface="맑은 고딕"/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3위 TD3: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dirty="0" err="1">
                <a:latin typeface="맑은 고딕"/>
                <a:ea typeface="맑은 고딕"/>
              </a:rPr>
              <a:t>평균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ko-KR" altLang="en-US" dirty="0" err="1">
                <a:latin typeface="맑은 고딕"/>
                <a:ea typeface="맑은 고딕"/>
              </a:rPr>
              <a:t>수익률</a:t>
            </a:r>
            <a:r>
              <a:rPr lang="en-US" dirty="0">
                <a:latin typeface="맑은 고딕"/>
                <a:ea typeface="맑은 고딕"/>
              </a:rPr>
              <a:t> </a:t>
            </a:r>
            <a:r>
              <a:rPr lang="en-US" b="1" dirty="0">
                <a:latin typeface="맑은 고딕"/>
                <a:ea typeface="맑은 고딕"/>
              </a:rPr>
              <a:t>-1.95%</a:t>
            </a:r>
            <a:r>
              <a:rPr lang="en-US" dirty="0">
                <a:latin typeface="맑은 고딕"/>
                <a:ea typeface="맑은 고딕"/>
              </a:rPr>
              <a:t>.</a:t>
            </a:r>
            <a:endParaRPr lang="en-US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err="1">
                <a:latin typeface="맑은 고딕"/>
                <a:ea typeface="맑은 고딕"/>
              </a:rPr>
              <a:t>금융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데이터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특유의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노이즈에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과적합</a:t>
            </a:r>
            <a:r>
              <a:rPr lang="en-US" sz="1200" dirty="0">
                <a:latin typeface="맑은 고딕"/>
                <a:ea typeface="맑은 고딕"/>
              </a:rPr>
              <a:t>(Overfitting)</a:t>
            </a:r>
            <a:r>
              <a:rPr lang="en-US" sz="1200" err="1">
                <a:latin typeface="맑은 고딕"/>
                <a:ea typeface="맑은 고딕"/>
              </a:rPr>
              <a:t>되어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잦은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손절매</a:t>
            </a:r>
            <a:r>
              <a:rPr lang="en-US" sz="1200" dirty="0">
                <a:latin typeface="맑은 고딕"/>
                <a:ea typeface="맑은 고딕"/>
              </a:rPr>
              <a:t> </a:t>
            </a:r>
            <a:r>
              <a:rPr lang="en-US" sz="1200" err="1">
                <a:latin typeface="맑은 고딕"/>
                <a:ea typeface="맑은 고딕"/>
              </a:rPr>
              <a:t>발생</a:t>
            </a:r>
            <a:r>
              <a:rPr lang="en-US" sz="1200" dirty="0">
                <a:latin typeface="맑은 고딕"/>
                <a:ea typeface="맑은 고딕"/>
              </a:rPr>
              <a:t>.</a:t>
            </a:r>
            <a:endParaRPr lang="en-US" sz="1600" dirty="0">
              <a:latin typeface="맑은 고딕"/>
              <a:ea typeface="맑은 고딕"/>
              <a:cs typeface="Calibri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XAI: Feature Importance Analysis</a:t>
            </a:r>
          </a:p>
        </p:txBody>
      </p:sp>
      <p:pic>
        <p:nvPicPr>
          <p:cNvPr id="4" name="그림 3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CCED40-0E1A-8BF8-FD01-E415728DA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4" y="3364396"/>
            <a:ext cx="8324850" cy="2514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2F44D5-D31A-F8F5-4E20-B3A2823CE9BA}"/>
              </a:ext>
            </a:extLst>
          </p:cNvPr>
          <p:cNvSpPr txBox="1"/>
          <p:nvPr/>
        </p:nvSpPr>
        <p:spPr>
          <a:xfrm>
            <a:off x="454360" y="1121701"/>
            <a:ext cx="827787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>
                <a:latin typeface="맑은 고딕"/>
                <a:ea typeface="맑은 고딕"/>
              </a:rPr>
              <a:t>SHAP </a:t>
            </a:r>
            <a:r>
              <a:rPr lang="en-US" b="1" err="1">
                <a:latin typeface="맑은 고딕"/>
                <a:ea typeface="맑은 고딕"/>
              </a:rPr>
              <a:t>분석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en-US" b="1" err="1">
                <a:latin typeface="맑은 고딕"/>
                <a:ea typeface="맑은 고딕"/>
              </a:rPr>
              <a:t>결과</a:t>
            </a:r>
            <a:endParaRPr lang="en-US" b="1" err="1">
              <a:latin typeface="맑은 고딕"/>
              <a:ea typeface="맑은 고딕"/>
              <a:cs typeface="Calibri"/>
            </a:endParaRPr>
          </a:p>
          <a:p>
            <a:pPr marL="685800" lvl="1" indent="-228600">
              <a:buFont typeface=""/>
              <a:buChar char="•"/>
            </a:pPr>
            <a:r>
              <a:rPr lang="en-US" sz="1200" dirty="0">
                <a:latin typeface="맑은 고딕"/>
                <a:ea typeface="맑은 고딕"/>
                <a:cs typeface="+mn-lt"/>
              </a:rPr>
              <a:t>1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위를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차지한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SAC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는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Volatility (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시장</a:t>
            </a:r>
            <a:r>
              <a:rPr 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변동성)을 가장 중요한 판단 기준으로 삼음</a:t>
            </a:r>
          </a:p>
          <a:p>
            <a:pPr lvl="1"/>
            <a:r>
              <a:rPr lang="ko-KR" altLang="en-US" sz="1200" dirty="0">
                <a:latin typeface="맑은 고딕"/>
                <a:ea typeface="맑은 고딕"/>
                <a:cs typeface="+mn-lt"/>
              </a:rPr>
              <a:t>-&gt; 변동성이 높으면 포트폴리오 비중을 줄여 </a:t>
            </a:r>
            <a:r>
              <a:rPr lang="ko-KR" altLang="en-US" sz="1200" dirty="0" err="1">
                <a:latin typeface="맑은 고딕"/>
                <a:ea typeface="맑은 고딕"/>
                <a:cs typeface="+mn-lt"/>
              </a:rPr>
              <a:t>Risk-Off한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dirty="0" err="1">
                <a:latin typeface="맑은 고딕"/>
                <a:ea typeface="맑은 고딕"/>
                <a:cs typeface="+mn-lt"/>
              </a:rPr>
              <a:t>action을</a:t>
            </a:r>
            <a:r>
              <a:rPr lang="ko-KR" altLang="en-US" sz="1200" dirty="0">
                <a:latin typeface="맑은 고딕"/>
                <a:ea typeface="맑은 고딕"/>
                <a:cs typeface="+mn-lt"/>
              </a:rPr>
              <a:t> 취하고, 변동성이 안정될 때만 진입</a:t>
            </a:r>
          </a:p>
          <a:p>
            <a:pPr marL="457200" lvl="2"/>
            <a:endParaRPr lang="en-US" altLang="ko-KR" sz="1200" dirty="0">
              <a:latin typeface="맑은 고딕"/>
              <a:ea typeface="맑은 고딕"/>
              <a:cs typeface="+mn-lt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latin typeface="맑은 고딕"/>
                <a:ea typeface="맑은 고딕"/>
              </a:rPr>
              <a:t>인사이트</a:t>
            </a:r>
            <a:r>
              <a:rPr lang="en-US" b="1" dirty="0">
                <a:latin typeface="맑은 고딕"/>
                <a:ea typeface="맑은 고딕"/>
              </a:rPr>
              <a:t> :</a:t>
            </a:r>
            <a:endParaRPr lang="en-US" b="1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ko-KR" altLang="en-US" sz="1200" dirty="0" err="1">
                <a:latin typeface="맑은 고딕"/>
                <a:ea typeface="맑은 고딕"/>
                <a:cs typeface="Calibri"/>
              </a:rPr>
              <a:t>SAC의</a:t>
            </a:r>
            <a:r>
              <a:rPr lang="ko-KR" altLang="en-US" sz="1200" dirty="0">
                <a:latin typeface="맑은 고딕"/>
                <a:ea typeface="맑은 고딕"/>
                <a:cs typeface="Calibri"/>
              </a:rPr>
              <a:t> 리스크 관리 후 수익 추구 전략이 2015~2025년 장에서 어느정도 유효한 것을 확인할 수 있음</a:t>
            </a:r>
          </a:p>
          <a:p>
            <a:pPr marL="685800" lvl="2" indent="-228600">
              <a:buFont typeface="Wingdings"/>
              <a:buChar char="§"/>
            </a:pPr>
            <a:endParaRPr lang="en-US" altLang="ko-KR" sz="1200" dirty="0">
              <a:latin typeface="맑은 고딕"/>
              <a:ea typeface="맑은 고딕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040943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lang="en-US" dirty="0">
                <a:ea typeface="+mn-lt"/>
                <a:cs typeface="+mn-lt"/>
              </a:rPr>
              <a:t>Conclusion</a:t>
            </a:r>
            <a:endParaRPr lang="ko-KR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7F60D-126A-AEBE-BFEE-FFBDCFE51F22}"/>
              </a:ext>
            </a:extLst>
          </p:cNvPr>
          <p:cNvSpPr txBox="1"/>
          <p:nvPr/>
        </p:nvSpPr>
        <p:spPr>
          <a:xfrm>
            <a:off x="454360" y="1128801"/>
            <a:ext cx="846955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최근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10년의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데이터에서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b="1" dirty="0">
                <a:latin typeface="맑은 고딕"/>
                <a:ea typeface="맑은 고딕"/>
                <a:cs typeface="Google Sans Text"/>
              </a:rPr>
              <a:t>SAC </a:t>
            </a:r>
            <a:r>
              <a:rPr lang="en-US" sz="1200" b="1" dirty="0" err="1">
                <a:latin typeface="맑은 고딕"/>
                <a:ea typeface="맑은 고딕"/>
                <a:cs typeface="Google Sans Text"/>
              </a:rPr>
              <a:t>알고리즘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이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가장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우수한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적응력을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보임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.</a:t>
            </a:r>
            <a:endParaRPr lang="ko-KR" altLang="en-US" sz="1200" dirty="0">
              <a:latin typeface="맑은 고딕"/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엔트로피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항을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가지는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SAC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특성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상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확신이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없을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경우에는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극단적인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액션을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취하지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않는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것이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가장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높은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성적을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거둔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이유로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altLang="ko-KR" sz="1200" dirty="0" err="1">
                <a:latin typeface="맑은 고딕"/>
                <a:ea typeface="맑은 고딕"/>
                <a:cs typeface="Google Sans Text"/>
              </a:rPr>
              <a:t>보임</a:t>
            </a:r>
            <a:endParaRPr lang="en-US" altLang="ko-KR" sz="1200">
              <a:latin typeface="맑은 고딕"/>
              <a:ea typeface="맑은 고딕"/>
              <a:cs typeface="Google Sans Text"/>
            </a:endParaRPr>
          </a:p>
          <a:p>
            <a:pPr marL="0" lvl="1"/>
            <a:endParaRPr lang="en-US" sz="1200" dirty="0">
              <a:latin typeface="맑은 고딕"/>
              <a:ea typeface="맑은 고딕"/>
              <a:cs typeface="Google Sans Text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latin typeface="맑은 고딕"/>
                <a:ea typeface="맑은 고딕"/>
                <a:cs typeface="Google Sans Text"/>
              </a:rPr>
              <a:t>한계</a:t>
            </a:r>
            <a:r>
              <a:rPr lang="en-US" b="1" dirty="0">
                <a:latin typeface="맑은 고딕"/>
                <a:ea typeface="맑은 고딕"/>
                <a:cs typeface="Google Sans Text"/>
              </a:rPr>
              <a:t> 및 </a:t>
            </a:r>
            <a:r>
              <a:rPr lang="en-US" b="1" dirty="0" err="1">
                <a:latin typeface="맑은 고딕"/>
                <a:ea typeface="맑은 고딕"/>
                <a:cs typeface="Google Sans Text"/>
              </a:rPr>
              <a:t>향후</a:t>
            </a:r>
            <a:r>
              <a:rPr lang="en-US" b="1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b="1" dirty="0" err="1">
                <a:latin typeface="맑은 고딕"/>
                <a:ea typeface="맑은 고딕"/>
                <a:cs typeface="Google Sans Text"/>
              </a:rPr>
              <a:t>과제</a:t>
            </a:r>
            <a:r>
              <a:rPr lang="en-US" b="1" dirty="0">
                <a:latin typeface="맑은 고딕"/>
                <a:ea typeface="맑은 고딕"/>
                <a:cs typeface="Google Sans Text"/>
              </a:rPr>
              <a:t>:</a:t>
            </a:r>
          </a:p>
          <a:p>
            <a:pPr marL="228600" indent="-228600">
              <a:buFont typeface=""/>
              <a:buChar char="•"/>
            </a:pPr>
            <a:endParaRPr lang="en-US" b="1" dirty="0">
              <a:latin typeface="맑은 고딕"/>
              <a:ea typeface="맑은 고딕"/>
              <a:cs typeface="Google Sans Text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b="1" err="1">
                <a:latin typeface="맑은 고딕"/>
                <a:ea typeface="맑은 고딕"/>
                <a:cs typeface="Google Sans Text"/>
              </a:rPr>
              <a:t>데이터</a:t>
            </a:r>
            <a:r>
              <a:rPr lang="en-US" sz="1200" b="1" dirty="0">
                <a:latin typeface="맑은 고딕"/>
                <a:ea typeface="맑은 고딕"/>
                <a:cs typeface="Google Sans Text"/>
              </a:rPr>
              <a:t>: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일봉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데이터는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장중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대응이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불가능함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.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향후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분봉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/틱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데이터로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확장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err="1">
                <a:latin typeface="맑은 고딕"/>
                <a:ea typeface="맑은 고딕"/>
                <a:cs typeface="Google Sans Text"/>
              </a:rPr>
              <a:t>필요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,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또한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과거의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큰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금융 사건이 포함된 데이터를 추가로 처리하거나 다른 </a:t>
            </a:r>
            <a:r>
              <a:rPr lang="ko-KR" sz="1200" err="1">
                <a:latin typeface="맑은 고딕"/>
                <a:ea typeface="맑은 고딕"/>
                <a:cs typeface="+mn-lt"/>
              </a:rPr>
              <a:t>Feature를</a:t>
            </a:r>
            <a:r>
              <a:rPr lang="ko-KR" sz="1200" dirty="0">
                <a:latin typeface="맑은 고딕"/>
                <a:ea typeface="맑은 고딕"/>
                <a:cs typeface="+mn-lt"/>
              </a:rPr>
              <a:t> 도입하는 것 또한 의미가 있을 것으로 보임.</a:t>
            </a:r>
            <a:endParaRPr lang="ko-KR" altLang="en-US" sz="1200" dirty="0">
              <a:latin typeface="맑은 고딕"/>
              <a:ea typeface="맑은 고딕"/>
              <a:cs typeface="+mn-lt"/>
            </a:endParaRPr>
          </a:p>
          <a:p>
            <a:pPr marL="685800" lvl="2" indent="-228600">
              <a:buFont typeface="Wingdings"/>
              <a:buChar char="§"/>
            </a:pPr>
            <a:endParaRPr lang="ko-KR" sz="1200" dirty="0">
              <a:latin typeface="맑은 고딕"/>
              <a:ea typeface="맑은 고딕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1200" b="1" dirty="0" err="1">
                <a:latin typeface="맑은 고딕"/>
                <a:ea typeface="맑은 고딕"/>
                <a:cs typeface="Google Sans Text"/>
              </a:rPr>
              <a:t>전략</a:t>
            </a:r>
            <a:r>
              <a:rPr lang="en-US" sz="1200" b="1" dirty="0">
                <a:latin typeface="맑은 고딕"/>
                <a:ea typeface="맑은 고딕"/>
                <a:cs typeface="Google Sans Text"/>
              </a:rPr>
              <a:t>: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주식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매수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(Long)만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가능하여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하락장에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수익을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내지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못함. 선물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/</a:t>
            </a:r>
            <a:r>
              <a:rPr lang="en-US" sz="1200" dirty="0" err="1">
                <a:latin typeface="맑은 고딕"/>
                <a:ea typeface="맑은 고딕"/>
                <a:cs typeface="Google Sans Text"/>
              </a:rPr>
              <a:t>옵션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(Short)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환경에서의</a:t>
            </a:r>
            <a:r>
              <a:rPr lang="en-US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비교분석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 </a:t>
            </a:r>
            <a:r>
              <a:rPr lang="ko-KR" altLang="en-US" sz="1200" dirty="0">
                <a:latin typeface="맑은 고딕"/>
                <a:ea typeface="맑은 고딕"/>
                <a:cs typeface="Google Sans Text"/>
              </a:rPr>
              <a:t>제안</a:t>
            </a:r>
            <a:r>
              <a:rPr lang="en-US" altLang="ko-KR" sz="1200" dirty="0">
                <a:latin typeface="맑은 고딕"/>
                <a:ea typeface="맑은 고딕"/>
                <a:cs typeface="Google Sans Text"/>
              </a:rPr>
              <a:t>.</a:t>
            </a:r>
            <a:endParaRPr lang="ko-KR" altLang="en-US" sz="1200" dirty="0">
              <a:latin typeface="맑은 고딕"/>
              <a:ea typeface="맑은 고딕"/>
              <a:cs typeface="Google Sans Text"/>
            </a:endParaRPr>
          </a:p>
          <a:p>
            <a:pPr algn="ctr"/>
            <a:endParaRPr lang="ko-KR" altLang="en-US" sz="12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화면 슬라이드 쇼(4:3)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243</cp:revision>
  <dcterms:created xsi:type="dcterms:W3CDTF">2013-01-27T09:14:16Z</dcterms:created>
  <dcterms:modified xsi:type="dcterms:W3CDTF">2025-12-07T14:58:34Z</dcterms:modified>
  <cp:category/>
</cp:coreProperties>
</file>